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4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5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  <p:sldId id="271" r:id="rId1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r>
              <a:rPr lang="en-US" sz="1100" b="0" i="0" u="none" strike="noStrike" baseline="0"/>
              <a:t>Distribution of Posts Across Categories</a:t>
            </a:r>
            <a:endParaRPr lang="en-US" sz="1100" b="0" i="0" u="none" strike="noStrike">
              <a:solidFill>
                <a:srgbClr val="64748B"/>
              </a:solidFill>
              <a:latin typeface="Arial"/>
            </a:endParaRP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34E-4FCE-B5CA-0D11FBAF6488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34E-4FCE-B5CA-0D11FBAF6488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34E-4FCE-B5CA-0D11FBAF6488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34E-4FCE-B5CA-0D11FBAF6488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34E-4FCE-B5CA-0D11FBAF648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OCD</c:v>
                </c:pt>
                <c:pt idx="1">
                  <c:v>ADHD</c:v>
                </c:pt>
                <c:pt idx="2">
                  <c:v>Depression</c:v>
                </c:pt>
                <c:pt idx="3">
                  <c:v>PTSD</c:v>
                </c:pt>
                <c:pt idx="4">
                  <c:v>Aspergers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1712</c:v>
                </c:pt>
                <c:pt idx="1">
                  <c:v>1327</c:v>
                </c:pt>
                <c:pt idx="2">
                  <c:v>995</c:v>
                </c:pt>
                <c:pt idx="3">
                  <c:v>890</c:v>
                </c:pt>
                <c:pt idx="4">
                  <c:v>886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34E-4FCE-B5CA-0D11FBAF64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DistilBERT</c:v>
                </c:pt>
              </c:strCache>
            </c:strRef>
          </c:tx>
          <c:spPr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0.94750000000000001</c:v>
                </c:pt>
                <c:pt idx="1">
                  <c:v>0.51400000000000001</c:v>
                </c:pt>
                <c:pt idx="2">
                  <c:v>0.31309999999999999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559-49F9-ABBF-075D94E94C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RoBERTa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0.91400000000000003</c:v>
                </c:pt>
                <c:pt idx="1">
                  <c:v>0.46179999999999999</c:v>
                </c:pt>
                <c:pt idx="2">
                  <c:v>0.30020000000000002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559-49F9-ABBF-075D94E94C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E21-46AE-8193-44FA7904251B}"/>
              </c:ext>
            </c:extLst>
          </c:dPt>
          <c:dPt>
            <c:idx val="1"/>
            <c:invertIfNegative val="0"/>
            <c:bubble3D val="0"/>
            <c:spPr>
              <a:solidFill>
                <a:srgbClr val="3B82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21-46AE-8193-44FA7904251B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21-46AE-8193-44FA7904251B}"/>
              </c:ext>
            </c:extLst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21-46AE-8193-44FA7904251B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21-46AE-8193-44FA790425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OCD</c:v>
                </c:pt>
                <c:pt idx="1">
                  <c:v>ADHD</c:v>
                </c:pt>
                <c:pt idx="2">
                  <c:v>Depression</c:v>
                </c:pt>
                <c:pt idx="3">
                  <c:v>PTSD</c:v>
                </c:pt>
                <c:pt idx="4">
                  <c:v>Aspergers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</c:v>
                </c:pt>
                <c:pt idx="1">
                  <c:v>0.86</c:v>
                </c:pt>
                <c:pt idx="2">
                  <c:v>0.81</c:v>
                </c:pt>
                <c:pt idx="3">
                  <c:v>0.82</c:v>
                </c:pt>
                <c:pt idx="4">
                  <c:v>0.74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E21-46AE-8193-44FA790425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LSTM</c:v>
                </c:pt>
                <c:pt idx="1">
                  <c:v>Naive Bayes</c:v>
                </c:pt>
                <c:pt idx="2">
                  <c:v>NB Tuned</c:v>
                </c:pt>
                <c:pt idx="3">
                  <c:v>SVM</c:v>
                </c:pt>
                <c:pt idx="4">
                  <c:v>DistilBERT</c:v>
                </c:pt>
                <c:pt idx="5">
                  <c:v>LR</c:v>
                </c:pt>
                <c:pt idx="6">
                  <c:v>LR Tuned</c:v>
                </c:pt>
                <c:pt idx="7">
                  <c:v>SVM Tuned</c:v>
                </c:pt>
                <c:pt idx="8">
                  <c:v>RoBERTa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0.53790000000000004</c:v>
                </c:pt>
                <c:pt idx="1">
                  <c:v>0.67469999999999997</c:v>
                </c:pt>
                <c:pt idx="2">
                  <c:v>0.73409999999999997</c:v>
                </c:pt>
                <c:pt idx="3">
                  <c:v>0.77710000000000001</c:v>
                </c:pt>
                <c:pt idx="4">
                  <c:v>0.77880000000000005</c:v>
                </c:pt>
                <c:pt idx="5">
                  <c:v>0.78310000000000002</c:v>
                </c:pt>
                <c:pt idx="6">
                  <c:v>0.78139999999999998</c:v>
                </c:pt>
                <c:pt idx="7">
                  <c:v>0.79090000000000005</c:v>
                </c:pt>
                <c:pt idx="8">
                  <c:v>0.83909999999999996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C0-4F11-AE8E-925BF8188F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LSTM</c:v>
                </c:pt>
                <c:pt idx="1">
                  <c:v>Naive Bayes</c:v>
                </c:pt>
                <c:pt idx="2">
                  <c:v>NB Tuned</c:v>
                </c:pt>
                <c:pt idx="3">
                  <c:v>SVM</c:v>
                </c:pt>
                <c:pt idx="4">
                  <c:v>DistilBERT</c:v>
                </c:pt>
                <c:pt idx="5">
                  <c:v>LR</c:v>
                </c:pt>
                <c:pt idx="6">
                  <c:v>LR Tuned</c:v>
                </c:pt>
                <c:pt idx="7">
                  <c:v>SVM Tuned</c:v>
                </c:pt>
                <c:pt idx="8">
                  <c:v>RoBERTa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0.53200000000000003</c:v>
                </c:pt>
                <c:pt idx="1">
                  <c:v>0.65390000000000004</c:v>
                </c:pt>
                <c:pt idx="2">
                  <c:v>0.72889999999999999</c:v>
                </c:pt>
                <c:pt idx="3">
                  <c:v>0.77629999999999999</c:v>
                </c:pt>
                <c:pt idx="4">
                  <c:v>0.77969999999999995</c:v>
                </c:pt>
                <c:pt idx="5">
                  <c:v>0.7823</c:v>
                </c:pt>
                <c:pt idx="6">
                  <c:v>0.78039999999999998</c:v>
                </c:pt>
                <c:pt idx="7">
                  <c:v>0.7893</c:v>
                </c:pt>
                <c:pt idx="8">
                  <c:v>0.83889999999999998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AC0-4F11-AE8E-925BF8188F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724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32C91-6D64-7FA0-E378-031D189B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4C47E9-89B8-D7DD-9BEB-2AE26207F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943C3F-749F-A4D1-C4FC-F0A7F706B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9EB15-769D-4B80-5F12-0B736F11B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080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D7AA9-BA55-329A-E00D-A81F7CB8B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69F42-1E6E-8F3B-F410-FD229EA5BF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689B6-F67B-216F-0714-594F22D13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4EB27-6A12-425C-DB45-59AA41EB8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72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47782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36390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2558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3792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2733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2221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80927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589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3642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66473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6613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5/4/2026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207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046720" y="3108960"/>
            <a:ext cx="1645920" cy="1645920"/>
          </a:xfrm>
          <a:prstGeom prst="ellipse">
            <a:avLst/>
          </a:prstGeom>
          <a:solidFill>
            <a:srgbClr val="5EEAD4">
              <a:alpha val="15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81842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Mental Health Detection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from Reddit Posts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>
                <a:solidFill>
                  <a:schemeClr val="bg1"/>
                </a:solidFill>
              </a:rPr>
              <a:t>Comparing Machine Learning Models using NLP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3794760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0218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>
                <a:solidFill>
                  <a:schemeClr val="bg1"/>
                </a:solidFill>
              </a:rPr>
              <a:t>Université Saint-Joseph de Beyrouth — MSc Data Science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DB3C5F-677D-7C48-AB90-D69D6E446638}"/>
              </a:ext>
            </a:extLst>
          </p:cNvPr>
          <p:cNvSpPr txBox="1"/>
          <p:nvPr/>
        </p:nvSpPr>
        <p:spPr>
          <a:xfrm>
            <a:off x="6446520" y="4066282"/>
            <a:ext cx="2743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Presented by: Jad Bayda, Nour Hmadeh and Hayfa Rustom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Course: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bg1"/>
                </a:solidFill>
              </a:rPr>
              <a:t>Presentation Roadmap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5720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Introduction &amp; Problem 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" y="1490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Why mental health detection matters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2039112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45720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13055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" y="2084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Dataset Overview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0392" y="24780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Source, size, categories &amp; class distribution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302666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026664"/>
            <a:ext cx="45720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31181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" y="30723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Preprocessing &amp; Cleaning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0392" y="34655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Removing noise, encoding labels, splitting data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401421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4014216"/>
            <a:ext cx="45720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41056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0392" y="40599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Feature Engineering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0392" y="4453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TF-IDF, tokenization, word embeddings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051560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5720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143000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85232" y="10972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Models &amp; Training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85232" y="149047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6 models across 3 categories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2039112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2039112"/>
            <a:ext cx="45720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213055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85232" y="208483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Advanced ML Techniques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85232" y="247802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Cross-validation, hyperparameter tuning, significance testing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026664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3026664"/>
            <a:ext cx="45720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3118104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85232" y="307238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Results &amp; Final Comparison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85232" y="346557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Leaderboard, confusion matrix, insights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754880" y="4014216"/>
            <a:ext cx="42062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754880" y="4014216"/>
            <a:ext cx="457200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754880" y="4105656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285232" y="405993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Conclusion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85232" y="44531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Key findings &amp; future work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Introduction &amp; Problem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What is This Project?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Detect mental health signals from Reddit posts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Classify each post into </a:t>
            </a:r>
            <a:r>
              <a:rPr lang="en-US" sz="1400" b="1" dirty="0"/>
              <a:t>5 categories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Use NLP + Machine Learning models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2779776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Why Does It Matter?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People often share struggles online before seeking help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Early detection can support faster intervention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Helps understand how mental health appears in language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Can act as an early warning system</a:t>
            </a:r>
          </a:p>
        </p:txBody>
      </p:sp>
      <p:sp>
        <p:nvSpPr>
          <p:cNvPr id="9" name="Shape 7"/>
          <p:cNvSpPr/>
          <p:nvPr/>
        </p:nvSpPr>
        <p:spPr>
          <a:xfrm>
            <a:off x="5852160" y="1005840"/>
            <a:ext cx="30175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852160" y="103327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5,810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52160" y="14630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Reddit posts analyzed</a:t>
            </a:r>
          </a:p>
        </p:txBody>
      </p:sp>
      <p:sp>
        <p:nvSpPr>
          <p:cNvPr id="12" name="Shape 10"/>
          <p:cNvSpPr/>
          <p:nvPr/>
        </p:nvSpPr>
        <p:spPr>
          <a:xfrm>
            <a:off x="5852160" y="1965960"/>
            <a:ext cx="30175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199339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852160" y="24231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Mental health categories</a:t>
            </a:r>
          </a:p>
        </p:txBody>
      </p:sp>
      <p:sp>
        <p:nvSpPr>
          <p:cNvPr id="15" name="Shape 13"/>
          <p:cNvSpPr/>
          <p:nvPr/>
        </p:nvSpPr>
        <p:spPr>
          <a:xfrm>
            <a:off x="5852160" y="2926080"/>
            <a:ext cx="301752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95351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852160" y="33832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Models tested</a:t>
            </a:r>
          </a:p>
        </p:txBody>
      </p:sp>
      <p:sp>
        <p:nvSpPr>
          <p:cNvPr id="18" name="Shape 16"/>
          <p:cNvSpPr/>
          <p:nvPr/>
        </p:nvSpPr>
        <p:spPr>
          <a:xfrm>
            <a:off x="5852160" y="3886200"/>
            <a:ext cx="30175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3913632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83.91%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852160" y="43434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Best Accuracy (RoBERTa)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E2F8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 </a:t>
            </a:r>
            <a:r>
              <a:rPr lang="en-US" sz="1400" b="1" dirty="0"/>
              <a:t>Data Source: Reddit (via </a:t>
            </a:r>
            <a:r>
              <a:rPr lang="en-US" sz="1400" b="1" dirty="0" err="1"/>
              <a:t>HuggingFace</a:t>
            </a:r>
            <a:r>
              <a:rPr lang="en-US" sz="1400" b="1" dirty="0"/>
              <a:t>)</a:t>
            </a:r>
            <a:br>
              <a:rPr lang="en-US" sz="1400" dirty="0"/>
            </a:br>
            <a:r>
              <a:rPr lang="en-US" sz="1400" dirty="0"/>
              <a:t> </a:t>
            </a:r>
            <a:r>
              <a:rPr lang="en-US" sz="1400" b="1" dirty="0"/>
              <a:t>Total dataset: 151K posts</a:t>
            </a:r>
            <a:br>
              <a:rPr lang="en-US" sz="1400" dirty="0"/>
            </a:br>
            <a:r>
              <a:rPr lang="en-US" sz="1400" dirty="0"/>
              <a:t> </a:t>
            </a:r>
            <a:r>
              <a:rPr lang="en-US" sz="1400" b="1" dirty="0"/>
              <a:t>Sample used: 10,000 posts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562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ADHD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276148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18562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OCD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18562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Aspergers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18562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Depression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1856232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PTSD</a:t>
            </a:r>
            <a:endParaRPr lang="en-US" sz="1200" dirty="0"/>
          </a:p>
        </p:txBody>
      </p:sp>
      <p:graphicFrame>
        <p:nvGraphicFramePr>
          <p:cNvPr id="36" name="Chart 0"/>
          <p:cNvGraphicFramePr/>
          <p:nvPr>
            <p:extLst>
              <p:ext uri="{D42A27DB-BD31-4B8C-83A1-F6EECF244321}">
                <p14:modId xmlns:p14="http://schemas.microsoft.com/office/powerpoint/2010/main" val="403548872"/>
              </p:ext>
            </p:extLst>
          </p:nvPr>
        </p:nvGraphicFramePr>
        <p:xfrm>
          <a:off x="274320" y="1939636"/>
          <a:ext cx="5655425" cy="3043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5CE86F7A-6A2F-4782-2ED6-91BCF2B80E9E}"/>
              </a:ext>
            </a:extLst>
          </p:cNvPr>
          <p:cNvSpPr txBox="1"/>
          <p:nvPr/>
        </p:nvSpPr>
        <p:spPr>
          <a:xfrm>
            <a:off x="5929745" y="2898648"/>
            <a:ext cx="32710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Dataset is relatively balanced, with OCD having the </a:t>
            </a:r>
            <a:r>
              <a:rPr lang="en-US" sz="1600" b="1" dirty="0"/>
              <a:t>highest</a:t>
            </a:r>
            <a:r>
              <a:rPr lang="en-US" sz="1600" dirty="0"/>
              <a:t> number of posts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Data Preprocessing &amp; Cleaning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08660" y="1143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8660" y="117957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1752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Load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" y="230428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200" dirty="0"/>
              <a:t>Reddit dataset from </a:t>
            </a:r>
            <a:r>
              <a:rPr lang="en-US" sz="1200" dirty="0" err="1"/>
              <a:t>HuggingFace</a:t>
            </a:r>
            <a:endParaRPr lang="en-US" sz="1200" dirty="0"/>
          </a:p>
          <a:p>
            <a:pPr algn="ctr"/>
            <a:r>
              <a:rPr lang="en-US" sz="1200" dirty="0"/>
              <a:t>Sampled 10,000 posts</a:t>
            </a:r>
          </a:p>
        </p:txBody>
      </p:sp>
      <p:sp>
        <p:nvSpPr>
          <p:cNvPr id="9" name="Shape 7"/>
          <p:cNvSpPr/>
          <p:nvPr/>
        </p:nvSpPr>
        <p:spPr>
          <a:xfrm>
            <a:off x="1837944" y="2121408"/>
            <a:ext cx="14630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93392" y="105156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73452" y="1143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73452" y="117957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66544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Clean text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66544" y="2304288"/>
            <a:ext cx="16276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Removed deleted/empty posts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Dropped missing values</a:t>
            </a:r>
          </a:p>
        </p:txBody>
      </p:sp>
      <p:sp>
        <p:nvSpPr>
          <p:cNvPr id="15" name="Shape 13"/>
          <p:cNvSpPr/>
          <p:nvPr/>
        </p:nvSpPr>
        <p:spPr>
          <a:xfrm>
            <a:off x="3602736" y="2121408"/>
            <a:ext cx="14630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58184" y="105156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38244" y="1143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38244" y="117957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31336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Keep relevant data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31336" y="230428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67528" y="2121408"/>
            <a:ext cx="14630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13832" y="1040976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03036" y="1143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03036" y="117957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596128" y="18745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Label Encoding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96128" y="230428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Convert categories into numbers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(ADHD, OCD, etc.)</a:t>
            </a:r>
          </a:p>
        </p:txBody>
      </p:sp>
      <p:sp>
        <p:nvSpPr>
          <p:cNvPr id="27" name="Shape 25"/>
          <p:cNvSpPr/>
          <p:nvPr/>
        </p:nvSpPr>
        <p:spPr>
          <a:xfrm>
            <a:off x="7132320" y="2121408"/>
            <a:ext cx="14630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287768" y="1051560"/>
            <a:ext cx="1600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67828" y="11430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767828" y="1179576"/>
            <a:ext cx="640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97615" y="1896325"/>
            <a:ext cx="1700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Train/Test Split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452360" y="2304288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80% Training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20% Testing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3520440"/>
            <a:ext cx="8595360" cy="1371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35935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</a:rPr>
              <a:t> After Cleaning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395935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10,000 → </a:t>
            </a:r>
            <a:r>
              <a:rPr lang="en-US" sz="1400" b="1" dirty="0">
                <a:solidFill>
                  <a:schemeClr val="bg1"/>
                </a:solidFill>
              </a:rPr>
              <a:t>5,810 usable posts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Many posts were deleted or empty (~42%)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Data split is balanced across categories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Slight imbalance: OCD highest, Aspergers lowest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198F6A-6407-F259-3214-DBB2E04B3339}"/>
              </a:ext>
            </a:extLst>
          </p:cNvPr>
          <p:cNvSpPr txBox="1"/>
          <p:nvPr/>
        </p:nvSpPr>
        <p:spPr>
          <a:xfrm>
            <a:off x="3884825" y="2495693"/>
            <a:ext cx="1491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Text → body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Label → subreddit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Feature Engineering :    Text to Numbers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We convert text into numbers so models can understand 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508760"/>
            <a:ext cx="2788920" cy="30909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2788920" cy="5943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1752" y="1527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TF-IDF</a:t>
            </a:r>
            <a:r>
              <a:rPr lang="en-US" sz="1600" b="1" dirty="0">
                <a:solidFill>
                  <a:schemeClr val="bg1"/>
                </a:solidFill>
              </a:rPr>
              <a:t> (Classical Models)</a:t>
            </a:r>
          </a:p>
        </p:txBody>
      </p:sp>
      <p:sp>
        <p:nvSpPr>
          <p:cNvPr id="8" name="Text 6"/>
          <p:cNvSpPr/>
          <p:nvPr/>
        </p:nvSpPr>
        <p:spPr>
          <a:xfrm>
            <a:off x="301752" y="187452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2606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72968" y="1508760"/>
            <a:ext cx="2788920" cy="30909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72968" y="1508760"/>
            <a:ext cx="278892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527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chemeClr val="bg1"/>
                </a:solidFill>
              </a:rPr>
              <a:t>WordPiece</a:t>
            </a:r>
            <a:r>
              <a:rPr lang="en-US" sz="1600" b="1" dirty="0">
                <a:solidFill>
                  <a:schemeClr val="bg1"/>
                </a:solidFill>
              </a:rPr>
              <a:t> (BERT / </a:t>
            </a:r>
            <a:r>
              <a:rPr lang="en-US" sz="1600" b="1" dirty="0" err="1">
                <a:solidFill>
                  <a:schemeClr val="bg1"/>
                </a:solidFill>
              </a:rPr>
              <a:t>RoBERTa</a:t>
            </a:r>
            <a:r>
              <a:rPr lang="en-US" sz="16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Text 12"/>
          <p:cNvSpPr/>
          <p:nvPr/>
        </p:nvSpPr>
        <p:spPr>
          <a:xfrm>
            <a:off x="3264408" y="2176272"/>
            <a:ext cx="2606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17336" y="1508760"/>
            <a:ext cx="2788920" cy="309094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17336" y="1508760"/>
            <a:ext cx="278892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90488" y="15270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Word Index (LSTM)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08776" y="2176272"/>
            <a:ext cx="26060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05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87B999-1D78-0487-2108-0B7525B9A2A6}"/>
              </a:ext>
            </a:extLst>
          </p:cNvPr>
          <p:cNvCxnSpPr>
            <a:cxnSpLocks/>
          </p:cNvCxnSpPr>
          <p:nvPr/>
        </p:nvCxnSpPr>
        <p:spPr>
          <a:xfrm>
            <a:off x="3477491" y="505691"/>
            <a:ext cx="27016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530CC62-EC74-4D69-6F7C-4F6A1B1D654A}"/>
              </a:ext>
            </a:extLst>
          </p:cNvPr>
          <p:cNvSpPr txBox="1"/>
          <p:nvPr/>
        </p:nvSpPr>
        <p:spPr>
          <a:xfrm>
            <a:off x="329184" y="2423160"/>
            <a:ext cx="239662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Converts text into numerical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Important words get higher 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Common words get lower 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Example: “feeling sad” → important signal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0DEF41-1869-E870-DDBD-51CF63FA2FB6}"/>
              </a:ext>
            </a:extLst>
          </p:cNvPr>
          <p:cNvSpPr txBox="1"/>
          <p:nvPr/>
        </p:nvSpPr>
        <p:spPr>
          <a:xfrm>
            <a:off x="3179895" y="2433817"/>
            <a:ext cx="27889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Splits words into smaller parts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Handles unknown words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Uses pre-trained vocabulary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Captures context in sentences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5B70F5-1EB2-C41C-C018-1EA028343AFA}"/>
              </a:ext>
            </a:extLst>
          </p:cNvPr>
          <p:cNvSpPr txBox="1"/>
          <p:nvPr/>
        </p:nvSpPr>
        <p:spPr>
          <a:xfrm>
            <a:off x="6208776" y="2571750"/>
            <a:ext cx="26334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Each word → number (ID)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Sentences become sequences of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Shortened or padded to fixed length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A3FC43-D17E-9BB1-CD4F-6E8225C94EC9}"/>
              </a:ext>
            </a:extLst>
          </p:cNvPr>
          <p:cNvSpPr txBox="1"/>
          <p:nvPr/>
        </p:nvSpPr>
        <p:spPr>
          <a:xfrm>
            <a:off x="636617" y="4718329"/>
            <a:ext cx="7260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Different models require different text representations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Models Used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 rot="16200000">
            <a:off x="274320" y="987552"/>
            <a:ext cx="1097280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Category 1 — Classical ML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00200" y="131673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 rot="16200000">
            <a:off x="274320" y="2633472"/>
            <a:ext cx="10972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Category 2 — Deep Learning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 rot="16200000">
            <a:off x="274320" y="2962656"/>
            <a:ext cx="1097280" cy="1353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Category 3 — Transformers</a:t>
            </a:r>
            <a:endParaRPr 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011512-D37A-F9B3-682B-717265E82231}"/>
              </a:ext>
            </a:extLst>
          </p:cNvPr>
          <p:cNvSpPr txBox="1"/>
          <p:nvPr/>
        </p:nvSpPr>
        <p:spPr>
          <a:xfrm>
            <a:off x="146303" y="992830"/>
            <a:ext cx="797329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70C0"/>
                </a:solidFill>
              </a:rPr>
              <a:t>Classical Models</a:t>
            </a:r>
            <a:endParaRPr lang="en-US" sz="1600" b="1" dirty="0"/>
          </a:p>
          <a:p>
            <a:pPr>
              <a:buNone/>
            </a:pPr>
            <a:r>
              <a:rPr lang="en-US" sz="1400" b="1" dirty="0"/>
              <a:t>Logistic Regression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Simple baseline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Fast and effective for text </a:t>
            </a:r>
          </a:p>
          <a:p>
            <a:endParaRPr lang="en-US" sz="1400" dirty="0"/>
          </a:p>
          <a:p>
            <a:pPr>
              <a:buNone/>
            </a:pPr>
            <a:r>
              <a:rPr lang="en-US" sz="1400" b="1" dirty="0"/>
              <a:t>Naive Bayes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Works well with word frequencies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 Very fast </a:t>
            </a:r>
          </a:p>
          <a:p>
            <a:endParaRPr lang="en-US" sz="1400" dirty="0"/>
          </a:p>
          <a:p>
            <a:r>
              <a:rPr lang="en-US" sz="1400" b="1" dirty="0"/>
              <a:t>SVM (</a:t>
            </a:r>
            <a:r>
              <a:rPr lang="en-US" sz="1400" b="1" dirty="0" err="1"/>
              <a:t>LinearSVC</a:t>
            </a:r>
            <a:r>
              <a:rPr lang="en-US" sz="14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Finds the best boundary between classes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Works well with high-dimensional text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Strong and stable performance</a:t>
            </a:r>
          </a:p>
          <a:p>
            <a:endParaRPr lang="en-US" sz="1400" dirty="0"/>
          </a:p>
          <a:p>
            <a:r>
              <a:rPr lang="en-US" sz="1400" dirty="0"/>
              <a:t> </a:t>
            </a:r>
          </a:p>
          <a:p>
            <a:r>
              <a:rPr lang="en-US" sz="1400" dirty="0"/>
              <a:t> </a:t>
            </a:r>
          </a:p>
          <a:p>
            <a:pPr>
              <a:buNone/>
            </a:pPr>
            <a:br>
              <a:rPr lang="en-US" sz="1400" dirty="0"/>
            </a:br>
            <a:endParaRPr 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6AA477-52CB-17CB-007E-1C509435BA50}"/>
              </a:ext>
            </a:extLst>
          </p:cNvPr>
          <p:cNvSpPr txBox="1"/>
          <p:nvPr/>
        </p:nvSpPr>
        <p:spPr>
          <a:xfrm>
            <a:off x="5102768" y="992830"/>
            <a:ext cx="4672444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>
                <a:solidFill>
                  <a:srgbClr val="0070C0"/>
                </a:solidFill>
              </a:rPr>
              <a:t>Transformers</a:t>
            </a:r>
          </a:p>
          <a:p>
            <a:pPr>
              <a:buNone/>
            </a:pPr>
            <a:r>
              <a:rPr lang="en-US" sz="1400" b="1"/>
              <a:t>DistilBERT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Faster, lightweight BERT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Good performance with less cost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/>
          </a:p>
          <a:p>
            <a:pPr>
              <a:buNone/>
            </a:pPr>
            <a:r>
              <a:rPr lang="en-US" sz="1400" b="1"/>
              <a:t>RoBERTa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Improved version of BERT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Best performing model</a:t>
            </a:r>
          </a:p>
          <a:p>
            <a:endParaRPr lang="en-US" sz="1400"/>
          </a:p>
          <a:p>
            <a:pPr>
              <a:buNone/>
            </a:pPr>
            <a:br>
              <a:rPr lang="en-US" sz="1400">
                <a:solidFill>
                  <a:srgbClr val="0070C0"/>
                </a:solidFill>
              </a:rPr>
            </a:br>
            <a:r>
              <a:rPr lang="en-US" sz="1600" b="1">
                <a:solidFill>
                  <a:srgbClr val="0070C0"/>
                </a:solidFill>
              </a:rPr>
              <a:t>Deep Learning</a:t>
            </a:r>
          </a:p>
          <a:p>
            <a:pPr>
              <a:buNone/>
            </a:pPr>
            <a:r>
              <a:rPr lang="en-US" sz="1400" b="1"/>
              <a:t>BiLSTM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Understands sequence of words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Captures context from both directions</a:t>
            </a:r>
          </a:p>
          <a:p>
            <a:endParaRPr 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Training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Loss decreases steadily </a:t>
            </a:r>
            <a:r>
              <a:rPr lang="en-US" sz="1300" b="1" dirty="0">
                <a:solidFill>
                  <a:srgbClr val="0D9488"/>
                </a:solidFill>
                <a:sym typeface="Wingdings" panose="05000000000000000000" pitchFamily="2" charset="2"/>
              </a:rPr>
              <a:t> </a:t>
            </a:r>
            <a:r>
              <a:rPr lang="en-US" sz="1300" b="1" dirty="0">
                <a:solidFill>
                  <a:srgbClr val="0D9488"/>
                </a:solidFill>
              </a:rPr>
              <a:t> models are learning effectively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371600"/>
          <a:ext cx="50292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1268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</a:rPr>
              <a:t>Training Configuration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951171"/>
              </p:ext>
            </p:extLst>
          </p:nvPr>
        </p:nvGraphicFramePr>
        <p:xfrm>
          <a:off x="5493434" y="1698088"/>
          <a:ext cx="3376246" cy="1295400"/>
        </p:xfrm>
        <a:graphic>
          <a:graphicData uri="http://schemas.openxmlformats.org/drawingml/2006/table">
            <a:tbl>
              <a:tblPr/>
              <a:tblGrid>
                <a:gridCol w="1821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2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Parameter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2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Batch Size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2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Learning Rate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2e-5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2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Epochs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2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Max Token Length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128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E2F8F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8377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Other Models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18795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5CBE1A9-C9FC-C2E9-C523-84CDE5781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" y="3881227"/>
            <a:ext cx="589590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Classical models trained very fast (no GPU needed)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LSTM trained for multiple epochs on sequences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 models required more computation but gave better results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Advanced Techniques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8892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0332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0332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5-Fold Cross Validation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100584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72968" y="1005840"/>
            <a:ext cx="278892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72968" y="10332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75888" y="10332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Hyperparameter Tuning (Grid Search)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4152174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1005840"/>
            <a:ext cx="2788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17336" y="1005840"/>
            <a:ext cx="27889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17336" y="10332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620256" y="103327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Statistical Significance Testing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08776" y="1572768"/>
            <a:ext cx="2606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050" dirty="0"/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A411E21A-25CD-0BA4-6949-6C7ED0D57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24589"/>
            <a:ext cx="221567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split into 5 parts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trained and tested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times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are consistent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(low variation)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reliable results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6B649B2A-F44F-4003-66E9-78A8B855D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7560" y="1830794"/>
            <a:ext cx="2545633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multiple parameter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 classical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Default settings 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always optimal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Turning significantly improved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results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645E691A-1672-3DFE-1F46-CE3F7B50F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9533" y="1830793"/>
            <a:ext cx="2244525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Compared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statistical tests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are statistically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significant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consistently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outperforms others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consistently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Outperforms others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Classical Models — Results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145374"/>
              </p:ext>
            </p:extLst>
          </p:nvPr>
        </p:nvGraphicFramePr>
        <p:xfrm>
          <a:off x="5029200" y="1208649"/>
          <a:ext cx="3657600" cy="202692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F1 Score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After Tuning (F1)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Logistic Regression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78.23%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78.08%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Naive Bayes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65.39%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8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2C55E"/>
                          </a:solidFill>
                        </a:rPr>
                        <a:t>72.89% (+7.5%!)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SVM (LinearSVC)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77.63%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</a:rPr>
                        <a:t>78.93%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246120"/>
            <a:ext cx="8595360" cy="1645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41855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</a:rPr>
              <a:t>Key Takeaways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23257" y="7725374"/>
            <a:ext cx="8229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D360D1-CED0-E2B3-7611-5D1938BC5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76" y="932689"/>
            <a:ext cx="4217524" cy="2295144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99C53E0D-482E-BCC4-C004-722B39B85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057" y="3541655"/>
            <a:ext cx="4087979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Logistic Regression: strong and simple baseline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Naive Bayes: improved the most after tuning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SVM: best and most stable classical model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 Learning &amp; Transformer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8892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0332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LSTM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14904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17373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</a:rPr>
              <a:t>53.79%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8600" y="22860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F1 Score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25146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53.20%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20040" y="29443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Underperformed on small dataset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172968" y="1005840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172968" y="1005840"/>
            <a:ext cx="278892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72968" y="10332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DistilBERT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72968" y="14904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17373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77.88%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172968" y="22860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F1 Score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72968" y="25146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77.97%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64408" y="29443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Good performance, faster model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17336" y="1005840"/>
            <a:ext cx="2788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17336" y="1005840"/>
            <a:ext cx="2788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17336" y="103327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RoBERTa 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17336" y="1490472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Accuracy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117336" y="173736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</a:rPr>
              <a:t>83.91%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117336" y="22860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F1 Score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17336" y="251460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83.89%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08776" y="2944368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Best overall performance (+6%)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19456" y="4750309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/>
              <a:t>Transformer models clearly outperform classical and LSTM models</a:t>
            </a:r>
          </a:p>
        </p:txBody>
      </p:sp>
      <p:graphicFrame>
        <p:nvGraphicFramePr>
          <p:cNvPr id="29" name="Chart 0"/>
          <p:cNvGraphicFramePr/>
          <p:nvPr>
            <p:extLst>
              <p:ext uri="{D42A27DB-BD31-4B8C-83A1-F6EECF244321}">
                <p14:modId xmlns:p14="http://schemas.microsoft.com/office/powerpoint/2010/main" val="2224790379"/>
              </p:ext>
            </p:extLst>
          </p:nvPr>
        </p:nvGraphicFramePr>
        <p:xfrm>
          <a:off x="228600" y="3835909"/>
          <a:ext cx="8595360" cy="91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74320" y="4315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RoBERTa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218688" y="4315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SVM Tuned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63056" y="4315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Log. Reg.</a:t>
            </a:r>
            <a:endParaRPr lang="en-US" sz="1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934A501-3B3C-8EB9-B034-43BD7457B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" y="1545285"/>
            <a:ext cx="4368159" cy="342020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E9502A0-C00F-C416-7BBC-C37E943024DE}"/>
              </a:ext>
            </a:extLst>
          </p:cNvPr>
          <p:cNvSpPr txBox="1"/>
          <p:nvPr/>
        </p:nvSpPr>
        <p:spPr>
          <a:xfrm>
            <a:off x="274320" y="148512"/>
            <a:ext cx="45790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 err="1">
                <a:solidFill>
                  <a:schemeClr val="bg1"/>
                </a:solidFill>
              </a:rPr>
              <a:t>RoBERTa</a:t>
            </a:r>
            <a:r>
              <a:rPr lang="en-US" sz="2800" b="1" dirty="0">
                <a:solidFill>
                  <a:schemeClr val="bg1"/>
                </a:solidFill>
              </a:rPr>
              <a:t> — Confusion Matrix</a:t>
            </a:r>
            <a:r>
              <a:rPr lang="en-US" sz="28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CD9FDE-7600-65A1-9B83-D6B8B4BA1FCB}"/>
              </a:ext>
            </a:extLst>
          </p:cNvPr>
          <p:cNvSpPr txBox="1"/>
          <p:nvPr/>
        </p:nvSpPr>
        <p:spPr>
          <a:xfrm>
            <a:off x="192024" y="1019091"/>
            <a:ext cx="5401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6699FF"/>
                </a:solidFill>
              </a:rPr>
              <a:t>How well the model predicts each mental health </a:t>
            </a:r>
          </a:p>
          <a:p>
            <a:r>
              <a:rPr lang="en-US" sz="1600" dirty="0">
                <a:solidFill>
                  <a:srgbClr val="6699FF"/>
                </a:solidFill>
              </a:rPr>
              <a:t>category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EC1DFD-38DB-8294-B801-EF2040CDFE85}"/>
              </a:ext>
            </a:extLst>
          </p:cNvPr>
          <p:cNvSpPr txBox="1"/>
          <p:nvPr/>
        </p:nvSpPr>
        <p:spPr>
          <a:xfrm>
            <a:off x="5190979" y="2472472"/>
            <a:ext cx="36787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u="sng" dirty="0"/>
              <a:t>Key Observations:</a:t>
            </a:r>
          </a:p>
          <a:p>
            <a:pPr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Strong diagonal → most predictions are correct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OCD and PTSD are predicted very accurately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Aspergers is the most confused class (often mixed with ADHD &amp; Depression)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FAB2A1-0B24-CC01-346D-A4826A8A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AA38E7B-DA23-9A70-60D9-2FE7C8C6780B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4FBBB3-FEC4-52AE-983C-C4D533DC5B99}"/>
              </a:ext>
            </a:extLst>
          </p:cNvPr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Final Model Comparison</a:t>
            </a:r>
            <a:endParaRPr lang="en-US" sz="2800" dirty="0"/>
          </a:p>
        </p:txBody>
      </p:sp>
      <p:graphicFrame>
        <p:nvGraphicFramePr>
          <p:cNvPr id="5" name="Chart 0">
            <a:extLst>
              <a:ext uri="{FF2B5EF4-FFF2-40B4-BE49-F238E27FC236}">
                <a16:creationId xmlns:a16="http://schemas.microsoft.com/office/drawing/2014/main" id="{8755FDE7-CD7C-6C67-419F-1413D602D3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0912727"/>
              </p:ext>
            </p:extLst>
          </p:nvPr>
        </p:nvGraphicFramePr>
        <p:xfrm>
          <a:off x="315468" y="1399734"/>
          <a:ext cx="8595360" cy="22419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3986EF43-A981-3A22-528B-24ECD31A2EC8}"/>
              </a:ext>
            </a:extLst>
          </p:cNvPr>
          <p:cNvSpPr/>
          <p:nvPr/>
        </p:nvSpPr>
        <p:spPr>
          <a:xfrm>
            <a:off x="274320" y="3977640"/>
            <a:ext cx="2788920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549FBE0-8F4B-DD5F-9230-B9470070F2FF}"/>
              </a:ext>
            </a:extLst>
          </p:cNvPr>
          <p:cNvSpPr/>
          <p:nvPr/>
        </p:nvSpPr>
        <p:spPr>
          <a:xfrm>
            <a:off x="274320" y="400507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🥇 1st</a:t>
            </a: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44B49DF-BF47-9B82-14EC-F1C2F9642FA4}"/>
              </a:ext>
            </a:extLst>
          </p:cNvPr>
          <p:cNvSpPr/>
          <p:nvPr/>
        </p:nvSpPr>
        <p:spPr>
          <a:xfrm>
            <a:off x="274320" y="4315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RoBERTa</a:t>
            </a:r>
            <a:endParaRPr lang="en-US" sz="1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DB84D0A-CA04-28E3-C025-B07B23EE64F6}"/>
              </a:ext>
            </a:extLst>
          </p:cNvPr>
          <p:cNvSpPr/>
          <p:nvPr/>
        </p:nvSpPr>
        <p:spPr>
          <a:xfrm>
            <a:off x="274320" y="45720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83.91%</a:t>
            </a:r>
            <a:endParaRPr lang="en-US" sz="1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3840281-E958-508D-D142-2D1B966DA705}"/>
              </a:ext>
            </a:extLst>
          </p:cNvPr>
          <p:cNvSpPr/>
          <p:nvPr/>
        </p:nvSpPr>
        <p:spPr>
          <a:xfrm>
            <a:off x="3218688" y="3977640"/>
            <a:ext cx="2788920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D218E408-0AD6-67EC-1B25-4B8837BDD91B}"/>
              </a:ext>
            </a:extLst>
          </p:cNvPr>
          <p:cNvSpPr/>
          <p:nvPr/>
        </p:nvSpPr>
        <p:spPr>
          <a:xfrm>
            <a:off x="3218688" y="400507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🥈 2nd</a:t>
            </a:r>
            <a:endParaRPr lang="en-US" sz="16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6F052CD-E30E-1F4B-AA27-DEE11A485B0E}"/>
              </a:ext>
            </a:extLst>
          </p:cNvPr>
          <p:cNvSpPr/>
          <p:nvPr/>
        </p:nvSpPr>
        <p:spPr>
          <a:xfrm>
            <a:off x="3218688" y="4315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SVM Tuned</a:t>
            </a:r>
            <a:endParaRPr lang="en-US" sz="14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E0EC766-3997-5877-F936-D2DE965DCC29}"/>
              </a:ext>
            </a:extLst>
          </p:cNvPr>
          <p:cNvSpPr/>
          <p:nvPr/>
        </p:nvSpPr>
        <p:spPr>
          <a:xfrm>
            <a:off x="3218688" y="45720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79.09%</a:t>
            </a:r>
            <a:endParaRPr lang="en-US" sz="14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42ADA35C-E8C0-40E6-44EE-00DEA61B0E03}"/>
              </a:ext>
            </a:extLst>
          </p:cNvPr>
          <p:cNvSpPr/>
          <p:nvPr/>
        </p:nvSpPr>
        <p:spPr>
          <a:xfrm>
            <a:off x="6163056" y="3977640"/>
            <a:ext cx="2788920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3B62760E-2055-CA48-85FD-28027762AABD}"/>
              </a:ext>
            </a:extLst>
          </p:cNvPr>
          <p:cNvSpPr/>
          <p:nvPr/>
        </p:nvSpPr>
        <p:spPr>
          <a:xfrm>
            <a:off x="6163056" y="4005072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🥉 3rd</a:t>
            </a:r>
            <a:endParaRPr lang="en-US" sz="16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06D4E21-BD9D-BDA5-9B24-84EB3A6540C8}"/>
              </a:ext>
            </a:extLst>
          </p:cNvPr>
          <p:cNvSpPr/>
          <p:nvPr/>
        </p:nvSpPr>
        <p:spPr>
          <a:xfrm>
            <a:off x="6163056" y="4315968"/>
            <a:ext cx="2788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Log. Reg.</a:t>
            </a:r>
            <a:endParaRPr lang="en-US" sz="14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2B15E0D-F887-D74A-0EC7-FA534D933BC0}"/>
              </a:ext>
            </a:extLst>
          </p:cNvPr>
          <p:cNvSpPr/>
          <p:nvPr/>
        </p:nvSpPr>
        <p:spPr>
          <a:xfrm>
            <a:off x="6163056" y="457200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EEAD4"/>
                </a:solidFill>
              </a:rPr>
              <a:t>78.31%</a:t>
            </a:r>
            <a:endParaRPr lang="en-US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A25CAB-5270-11CC-C127-CDFCF7CF015B}"/>
              </a:ext>
            </a:extLst>
          </p:cNvPr>
          <p:cNvSpPr txBox="1"/>
          <p:nvPr/>
        </p:nvSpPr>
        <p:spPr>
          <a:xfrm>
            <a:off x="274320" y="948594"/>
            <a:ext cx="45790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b="1" dirty="0">
                <a:solidFill>
                  <a:schemeClr val="accent1"/>
                </a:solidFill>
              </a:rPr>
              <a:t>Performance Comparison Across All Models</a:t>
            </a:r>
            <a:endParaRPr lang="en-US" sz="1600" dirty="0">
              <a:solidFill>
                <a:schemeClr val="accent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2B1B2F-4BA7-D2F2-B328-13561F586FF4}"/>
              </a:ext>
            </a:extLst>
          </p:cNvPr>
          <p:cNvSpPr txBox="1"/>
          <p:nvPr/>
        </p:nvSpPr>
        <p:spPr>
          <a:xfrm>
            <a:off x="285574" y="3568410"/>
            <a:ext cx="572203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Transformer models outperform all others, with </a:t>
            </a:r>
            <a:r>
              <a:rPr lang="en-US" sz="1400" dirty="0" err="1"/>
              <a:t>RoBERTa</a:t>
            </a:r>
            <a:r>
              <a:rPr lang="en-US" sz="1400" dirty="0"/>
              <a:t> leading</a:t>
            </a:r>
          </a:p>
        </p:txBody>
      </p:sp>
    </p:spTree>
    <p:extLst>
      <p:ext uri="{BB962C8B-B14F-4D97-AF65-F5344CB8AC3E}">
        <p14:creationId xmlns:p14="http://schemas.microsoft.com/office/powerpoint/2010/main" val="1174971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Insights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2412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988959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7552" y="1088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RoBERTa Dominates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140817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Best model (83.9%) — understands context better than TF-IDF</a:t>
            </a:r>
          </a:p>
        </p:txBody>
      </p:sp>
      <p:sp>
        <p:nvSpPr>
          <p:cNvPr id="8" name="Shape 6"/>
          <p:cNvSpPr/>
          <p:nvPr/>
        </p:nvSpPr>
        <p:spPr>
          <a:xfrm>
            <a:off x="4709160" y="1024128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00302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😮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22392" y="108813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Classical Models Still Strong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22392" y="146304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F172A"/>
                </a:solidFill>
              </a:rPr>
              <a:t>L</a:t>
            </a:r>
            <a:r>
              <a:rPr lang="en-US" sz="1400" dirty="0"/>
              <a:t>ogistic Regression (~78%) performs surprisingly well</a:t>
            </a:r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87552" y="2441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LSTM Underperformed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28163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Needs more data — not suited for small datasets</a:t>
            </a:r>
          </a:p>
        </p:txBody>
      </p:sp>
      <p:sp>
        <p:nvSpPr>
          <p:cNvPr id="16" name="Shape 14"/>
          <p:cNvSpPr/>
          <p:nvPr/>
        </p:nvSpPr>
        <p:spPr>
          <a:xfrm>
            <a:off x="4709160" y="237744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2377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422392" y="24414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OCD Easiest to Detect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22392" y="281635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0F172A"/>
                </a:solidFill>
              </a:rPr>
              <a:t>D</a:t>
            </a:r>
            <a:r>
              <a:rPr lang="en-US" sz="1400" b="1" dirty="0"/>
              <a:t>istinct vocabulary makes classification easier</a:t>
            </a:r>
            <a:endParaRPr lang="en-US" sz="14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7307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" y="37307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7552" y="3822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Aspergers Hardest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7552" y="416966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Overlaps with ADHD → harder to distinguish</a:t>
            </a:r>
          </a:p>
        </p:txBody>
      </p:sp>
      <p:sp>
        <p:nvSpPr>
          <p:cNvPr id="24" name="Shape 22"/>
          <p:cNvSpPr/>
          <p:nvPr/>
        </p:nvSpPr>
        <p:spPr>
          <a:xfrm>
            <a:off x="4709160" y="3730752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6804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🎛️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422392" y="3794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</a:rPr>
              <a:t>Tuning Matters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22392" y="4169664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Simple tuning improved performance significantly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EEAD4"/>
                </a:solidFill>
              </a:rPr>
              <a:t>What We Proved &amp; What We Learned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RoBERTa is the clear winner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190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83.91% accuracy on a 5-class mental health classification task — statistically proven (p &lt; 0.0001).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841248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24028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Transformers &gt; Classical for NLP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58775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Pre-trained language models understand context, making them superior for complex text classification.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841248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Hyperparameter tuning is essential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4564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Naive Bayes improved by 7% simply by tuning alpha — default settings are rarely optimal.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977640"/>
            <a:ext cx="8412480" cy="74980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977640"/>
            <a:ext cx="7315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EEAD4"/>
                </a:solidFill>
              </a:rPr>
              <a:t>Dataset size matters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251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With more data (50k+), LSTM and transformers would show an even larger gap over classical models.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0A2DF0-B66E-9837-FF4E-E967CB97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79FD7B0-EB12-CB1F-899B-F36698FF9DD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E47C516-AD72-C9E3-713F-70E358D4585B}"/>
              </a:ext>
            </a:extLst>
          </p:cNvPr>
          <p:cNvSpPr/>
          <p:nvPr/>
        </p:nvSpPr>
        <p:spPr>
          <a:xfrm>
            <a:off x="-766689" y="-548640"/>
            <a:ext cx="2560320" cy="25603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1327845-0244-469C-7B1F-19CD44CCF3D0}"/>
              </a:ext>
            </a:extLst>
          </p:cNvPr>
          <p:cNvSpPr/>
          <p:nvPr/>
        </p:nvSpPr>
        <p:spPr>
          <a:xfrm>
            <a:off x="7934178" y="3819378"/>
            <a:ext cx="1645920" cy="1645920"/>
          </a:xfrm>
          <a:prstGeom prst="ellipse">
            <a:avLst/>
          </a:prstGeom>
          <a:solidFill>
            <a:srgbClr val="5EEAD4">
              <a:alpha val="15000"/>
            </a:srgbClr>
          </a:solidFill>
          <a:ln w="12700">
            <a:solidFill>
              <a:srgbClr val="5EEAD4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805FED5-AFD7-E8BA-8121-7A767AFF7CE0}"/>
              </a:ext>
            </a:extLst>
          </p:cNvPr>
          <p:cNvSpPr/>
          <p:nvPr/>
        </p:nvSpPr>
        <p:spPr>
          <a:xfrm>
            <a:off x="457200" y="1143854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Thank you </a:t>
            </a:r>
            <a:endParaRPr lang="en-US" sz="4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76A41F6-A061-CADE-D3C0-4F75EB1A2A80}"/>
              </a:ext>
            </a:extLst>
          </p:cNvPr>
          <p:cNvSpPr/>
          <p:nvPr/>
        </p:nvSpPr>
        <p:spPr>
          <a:xfrm>
            <a:off x="2743200" y="2544318"/>
            <a:ext cx="32004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4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</TotalTime>
  <Words>1041</Words>
  <Application>Microsoft Office PowerPoint</Application>
  <PresentationFormat>On-screen Show (16:9)</PresentationFormat>
  <Paragraphs>303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Health Detection from Reddit Posts</dc:title>
  <dc:subject>PptxGenJS Presentation</dc:subject>
  <dc:creator>PptxGenJS</dc:creator>
  <cp:lastModifiedBy>Hayfa Rustom</cp:lastModifiedBy>
  <cp:revision>6</cp:revision>
  <dcterms:created xsi:type="dcterms:W3CDTF">2026-05-03T15:10:06Z</dcterms:created>
  <dcterms:modified xsi:type="dcterms:W3CDTF">2026-05-03T23:01:37Z</dcterms:modified>
</cp:coreProperties>
</file>